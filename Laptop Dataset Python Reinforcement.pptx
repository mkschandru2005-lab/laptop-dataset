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15" autoAdjust="0"/>
    <p:restoredTop sz="94660"/>
  </p:normalViewPr>
  <p:slideViewPr>
    <p:cSldViewPr snapToGrid="0">
      <p:cViewPr varScale="1">
        <p:scale>
          <a:sx n="78" d="100"/>
          <a:sy n="78" d="100"/>
        </p:scale>
        <p:origin x="107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873C5-5E9C-B297-70FB-C8BB707ABC93}"/>
              </a:ext>
            </a:extLst>
          </p:cNvPr>
          <p:cNvSpPr>
            <a:spLocks noGrp="1"/>
          </p:cNvSpPr>
          <p:nvPr>
            <p:ph type="ctrTitle"/>
          </p:nvPr>
        </p:nvSpPr>
        <p:spPr>
          <a:xfrm>
            <a:off x="1622681" y="446161"/>
            <a:ext cx="7766936" cy="1646302"/>
          </a:xfrm>
        </p:spPr>
        <p:txBody>
          <a:bodyPr/>
          <a:lstStyle/>
          <a:p>
            <a:pPr algn="l"/>
            <a:r>
              <a:rPr lang="en-US" dirty="0"/>
              <a:t>Python Reinforcement</a:t>
            </a:r>
            <a:br>
              <a:rPr lang="en-US" dirty="0"/>
            </a:br>
            <a:r>
              <a:rPr lang="en-US" dirty="0"/>
              <a:t>           Project</a:t>
            </a:r>
            <a:endParaRPr lang="en-IN" dirty="0"/>
          </a:p>
        </p:txBody>
      </p:sp>
      <p:sp>
        <p:nvSpPr>
          <p:cNvPr id="3" name="Subtitle 2">
            <a:extLst>
              <a:ext uri="{FF2B5EF4-FFF2-40B4-BE49-F238E27FC236}">
                <a16:creationId xmlns:a16="http://schemas.microsoft.com/office/drawing/2014/main" id="{0C71172D-19AF-9FED-8594-74B017743BE1}"/>
              </a:ext>
            </a:extLst>
          </p:cNvPr>
          <p:cNvSpPr>
            <a:spLocks noGrp="1"/>
          </p:cNvSpPr>
          <p:nvPr>
            <p:ph type="subTitle" idx="1"/>
          </p:nvPr>
        </p:nvSpPr>
        <p:spPr>
          <a:xfrm>
            <a:off x="540115" y="4986254"/>
            <a:ext cx="7766936" cy="1096899"/>
          </a:xfrm>
        </p:spPr>
        <p:txBody>
          <a:bodyPr>
            <a:normAutofit fontScale="85000" lnSpcReduction="20000"/>
          </a:bodyPr>
          <a:lstStyle/>
          <a:p>
            <a:pPr algn="l"/>
            <a:r>
              <a:rPr lang="en-US" sz="3000" b="1" spc="100" dirty="0">
                <a:solidFill>
                  <a:srgbClr val="000000"/>
                </a:solidFill>
                <a:latin typeface="Franklin Gothic Demi"/>
              </a:rPr>
              <a:t>CHANDRU S</a:t>
            </a:r>
            <a:br>
              <a:rPr lang="en-US" sz="3000" b="1" spc="100" dirty="0">
                <a:solidFill>
                  <a:srgbClr val="000000"/>
                </a:solidFill>
                <a:latin typeface="Franklin Gothic Demi"/>
              </a:rPr>
            </a:br>
            <a:r>
              <a:rPr lang="en-US" sz="3000" b="1" spc="100" dirty="0">
                <a:solidFill>
                  <a:srgbClr val="000000"/>
                </a:solidFill>
                <a:latin typeface="Franklin Gothic Demi"/>
              </a:rPr>
              <a:t>DS OCTOBER 2025</a:t>
            </a:r>
            <a:br>
              <a:rPr lang="en-US" sz="3000" b="1" spc="100" dirty="0">
                <a:solidFill>
                  <a:srgbClr val="000000"/>
                </a:solidFill>
                <a:latin typeface="Franklin Gothic Demi"/>
              </a:rPr>
            </a:br>
            <a:endParaRPr lang="en-IN" sz="3000" dirty="0"/>
          </a:p>
          <a:p>
            <a:pPr algn="l"/>
            <a:endParaRPr lang="en-IN" dirty="0"/>
          </a:p>
        </p:txBody>
      </p:sp>
    </p:spTree>
    <p:extLst>
      <p:ext uri="{BB962C8B-B14F-4D97-AF65-F5344CB8AC3E}">
        <p14:creationId xmlns:p14="http://schemas.microsoft.com/office/powerpoint/2010/main" val="1237356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A5B43-41C6-968F-F72E-A37E5CDB8C7F}"/>
              </a:ext>
            </a:extLst>
          </p:cNvPr>
          <p:cNvSpPr>
            <a:spLocks noGrp="1"/>
          </p:cNvSpPr>
          <p:nvPr>
            <p:ph type="title"/>
          </p:nvPr>
        </p:nvSpPr>
        <p:spPr/>
        <p:txBody>
          <a:bodyPr>
            <a:normAutofit/>
          </a:bodyPr>
          <a:lstStyle/>
          <a:p>
            <a:r>
              <a:rPr lang="en-US" sz="6000" b="1" dirty="0"/>
              <a:t>Agenda</a:t>
            </a:r>
            <a:endParaRPr lang="en-IN" sz="6000" b="1" dirty="0"/>
          </a:p>
        </p:txBody>
      </p:sp>
      <p:sp>
        <p:nvSpPr>
          <p:cNvPr id="3" name="Content Placeholder 2">
            <a:extLst>
              <a:ext uri="{FF2B5EF4-FFF2-40B4-BE49-F238E27FC236}">
                <a16:creationId xmlns:a16="http://schemas.microsoft.com/office/drawing/2014/main" id="{6E816F21-E614-98AC-D9F6-AE5BDFE98ADC}"/>
              </a:ext>
            </a:extLst>
          </p:cNvPr>
          <p:cNvSpPr>
            <a:spLocks noGrp="1"/>
          </p:cNvSpPr>
          <p:nvPr>
            <p:ph idx="1"/>
          </p:nvPr>
        </p:nvSpPr>
        <p:spPr>
          <a:xfrm>
            <a:off x="677334" y="1836498"/>
            <a:ext cx="8596668" cy="3880773"/>
          </a:xfrm>
        </p:spPr>
        <p:txBody>
          <a:bodyPr>
            <a:normAutofit fontScale="40000" lnSpcReduction="20000"/>
          </a:bodyPr>
          <a:lstStyle/>
          <a:p>
            <a:pPr defTabSz="914400">
              <a:spcBef>
                <a:spcPts val="2200"/>
              </a:spcBef>
              <a:buClrTx/>
              <a:buSzTx/>
              <a:buFont typeface="Wingdings" panose="05000000000000000000" pitchFamily="2" charset="2"/>
              <a:buChar char="Ø"/>
              <a:defRPr/>
            </a:pPr>
            <a:r>
              <a:rPr kumimoji="0" lang="en-US" sz="7200" b="1" i="0" u="none" strike="noStrike" kern="1200" cap="none" spc="0" normalizeH="0" baseline="0" noProof="0" dirty="0">
                <a:ln>
                  <a:noFill/>
                </a:ln>
                <a:solidFill>
                  <a:srgbClr val="000000"/>
                </a:solidFill>
                <a:effectLst/>
                <a:uLnTx/>
                <a:uFillTx/>
                <a:latin typeface="Franklin Gothic Book"/>
                <a:ea typeface="+mn-ea"/>
                <a:cs typeface="+mn-cs"/>
              </a:rPr>
              <a:t>Data understanding</a:t>
            </a:r>
          </a:p>
          <a:p>
            <a:pPr marR="0" lvl="0" algn="l" defTabSz="914400" rtl="0" eaLnBrk="1" fontAlgn="auto" latinLnBrk="0" hangingPunct="1">
              <a:lnSpc>
                <a:spcPct val="100000"/>
              </a:lnSpc>
              <a:spcBef>
                <a:spcPts val="2200"/>
              </a:spcBef>
              <a:spcAft>
                <a:spcPts val="0"/>
              </a:spcAft>
              <a:buClrTx/>
              <a:buSzTx/>
              <a:buFont typeface="Wingdings" panose="05000000000000000000" pitchFamily="2" charset="2"/>
              <a:buChar char="Ø"/>
              <a:tabLst/>
              <a:defRPr/>
            </a:pPr>
            <a:r>
              <a:rPr kumimoji="0" lang="en-US" sz="7200" b="1" i="0" u="none" strike="noStrike" kern="1200" cap="none" spc="0" normalizeH="0" baseline="0" noProof="0" dirty="0">
                <a:ln>
                  <a:noFill/>
                </a:ln>
                <a:solidFill>
                  <a:srgbClr val="000000"/>
                </a:solidFill>
                <a:effectLst/>
                <a:uLnTx/>
                <a:uFillTx/>
                <a:latin typeface="Franklin Gothic Book"/>
                <a:ea typeface="+mn-ea"/>
                <a:cs typeface="+mn-cs"/>
              </a:rPr>
              <a:t>Data cleaning</a:t>
            </a:r>
          </a:p>
          <a:p>
            <a:pPr marR="0" lvl="0" algn="l" defTabSz="914400" rtl="0" eaLnBrk="1" fontAlgn="auto" latinLnBrk="0" hangingPunct="1">
              <a:lnSpc>
                <a:spcPct val="100000"/>
              </a:lnSpc>
              <a:spcBef>
                <a:spcPts val="2200"/>
              </a:spcBef>
              <a:spcAft>
                <a:spcPts val="0"/>
              </a:spcAft>
              <a:buClrTx/>
              <a:buSzTx/>
              <a:buFont typeface="Wingdings" panose="05000000000000000000" pitchFamily="2" charset="2"/>
              <a:buChar char="Ø"/>
              <a:tabLst/>
              <a:defRPr/>
            </a:pPr>
            <a:r>
              <a:rPr kumimoji="0" lang="en-US" sz="7200" b="1" i="0" u="none" strike="noStrike" kern="1200" cap="none" spc="0" normalizeH="0" baseline="0" noProof="0" dirty="0">
                <a:ln>
                  <a:noFill/>
                </a:ln>
                <a:solidFill>
                  <a:srgbClr val="000000"/>
                </a:solidFill>
                <a:effectLst/>
                <a:uLnTx/>
                <a:uFillTx/>
                <a:latin typeface="Franklin Gothic Book"/>
                <a:ea typeface="+mn-ea"/>
                <a:cs typeface="+mn-cs"/>
              </a:rPr>
              <a:t>Handling missing values</a:t>
            </a:r>
          </a:p>
          <a:p>
            <a:pPr marR="0" lvl="0" algn="l" defTabSz="914400" rtl="0" eaLnBrk="1" fontAlgn="auto" latinLnBrk="0" hangingPunct="1">
              <a:lnSpc>
                <a:spcPct val="100000"/>
              </a:lnSpc>
              <a:spcBef>
                <a:spcPts val="2200"/>
              </a:spcBef>
              <a:spcAft>
                <a:spcPts val="0"/>
              </a:spcAft>
              <a:buClrTx/>
              <a:buSzTx/>
              <a:buFont typeface="Wingdings" panose="05000000000000000000" pitchFamily="2" charset="2"/>
              <a:buChar char="Ø"/>
              <a:tabLst/>
              <a:defRPr/>
            </a:pPr>
            <a:r>
              <a:rPr kumimoji="0" lang="en-US" sz="7200" b="1" i="0" u="none" strike="noStrike" kern="1200" cap="none" spc="0" normalizeH="0" baseline="0" noProof="0" dirty="0">
                <a:ln>
                  <a:noFill/>
                </a:ln>
                <a:solidFill>
                  <a:srgbClr val="000000"/>
                </a:solidFill>
                <a:effectLst/>
                <a:uLnTx/>
                <a:uFillTx/>
                <a:latin typeface="Franklin Gothic Book"/>
                <a:ea typeface="+mn-ea"/>
                <a:cs typeface="+mn-cs"/>
              </a:rPr>
              <a:t>Outliers</a:t>
            </a:r>
          </a:p>
          <a:p>
            <a:pPr marR="0" lvl="0" algn="l" defTabSz="914400" rtl="0" eaLnBrk="1" fontAlgn="auto" latinLnBrk="0" hangingPunct="1">
              <a:lnSpc>
                <a:spcPct val="100000"/>
              </a:lnSpc>
              <a:spcBef>
                <a:spcPts val="2200"/>
              </a:spcBef>
              <a:spcAft>
                <a:spcPts val="0"/>
              </a:spcAft>
              <a:buClrTx/>
              <a:buSzTx/>
              <a:buFont typeface="Wingdings" panose="05000000000000000000" pitchFamily="2" charset="2"/>
              <a:buChar char="Ø"/>
              <a:tabLst/>
              <a:defRPr/>
            </a:pPr>
            <a:r>
              <a:rPr kumimoji="0" lang="en-US" sz="7200" b="1" i="0" u="none" strike="noStrike" kern="1200" cap="none" spc="0" normalizeH="0" baseline="0" noProof="0" dirty="0">
                <a:ln>
                  <a:noFill/>
                </a:ln>
                <a:solidFill>
                  <a:srgbClr val="000000"/>
                </a:solidFill>
                <a:effectLst/>
                <a:uLnTx/>
                <a:uFillTx/>
                <a:latin typeface="Franklin Gothic Book"/>
                <a:ea typeface="+mn-ea"/>
                <a:cs typeface="+mn-cs"/>
              </a:rPr>
              <a:t>Data visualization</a:t>
            </a:r>
          </a:p>
          <a:p>
            <a:pPr marR="0" lvl="0" algn="l" defTabSz="914400" rtl="0" eaLnBrk="1" fontAlgn="auto" latinLnBrk="0" hangingPunct="1">
              <a:lnSpc>
                <a:spcPct val="100000"/>
              </a:lnSpc>
              <a:spcBef>
                <a:spcPts val="2200"/>
              </a:spcBef>
              <a:spcAft>
                <a:spcPts val="0"/>
              </a:spcAft>
              <a:buClrTx/>
              <a:buSzTx/>
              <a:buFont typeface="Wingdings" panose="05000000000000000000" pitchFamily="2" charset="2"/>
              <a:buChar char="Ø"/>
              <a:tabLst/>
              <a:defRPr/>
            </a:pPr>
            <a:r>
              <a:rPr kumimoji="0" lang="en-US" sz="7200" b="1" i="0" u="none" strike="noStrike" kern="1200" cap="none" spc="0" normalizeH="0" baseline="0" noProof="0" dirty="0">
                <a:ln>
                  <a:noFill/>
                </a:ln>
                <a:solidFill>
                  <a:srgbClr val="000000"/>
                </a:solidFill>
                <a:effectLst/>
                <a:uLnTx/>
                <a:uFillTx/>
                <a:latin typeface="Franklin Gothic Book"/>
                <a:ea typeface="+mn-ea"/>
                <a:cs typeface="+mn-cs"/>
              </a:rPr>
              <a:t>Recommendation</a:t>
            </a:r>
            <a:endParaRPr lang="en-US" dirty="0">
              <a:solidFill>
                <a:schemeClr val="bg1"/>
              </a:solidFill>
            </a:endParaRPr>
          </a:p>
        </p:txBody>
      </p:sp>
    </p:spTree>
    <p:extLst>
      <p:ext uri="{BB962C8B-B14F-4D97-AF65-F5344CB8AC3E}">
        <p14:creationId xmlns:p14="http://schemas.microsoft.com/office/powerpoint/2010/main" val="726012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78663-DDC4-4AAA-2758-6CCB04304DC1}"/>
              </a:ext>
            </a:extLst>
          </p:cNvPr>
          <p:cNvSpPr>
            <a:spLocks noGrp="1"/>
          </p:cNvSpPr>
          <p:nvPr>
            <p:ph type="title"/>
          </p:nvPr>
        </p:nvSpPr>
        <p:spPr/>
        <p:txBody>
          <a:bodyPr>
            <a:normAutofit/>
          </a:bodyPr>
          <a:lstStyle/>
          <a:p>
            <a:r>
              <a:rPr lang="en-US" sz="5400" b="1" dirty="0"/>
              <a:t>Introduction</a:t>
            </a:r>
            <a:endParaRPr lang="en-IN" sz="5400" b="1" dirty="0"/>
          </a:p>
        </p:txBody>
      </p:sp>
      <p:sp>
        <p:nvSpPr>
          <p:cNvPr id="3" name="Content Placeholder 2">
            <a:extLst>
              <a:ext uri="{FF2B5EF4-FFF2-40B4-BE49-F238E27FC236}">
                <a16:creationId xmlns:a16="http://schemas.microsoft.com/office/drawing/2014/main" id="{6071DF54-C26D-3D78-3896-3C3C752C7729}"/>
              </a:ext>
            </a:extLst>
          </p:cNvPr>
          <p:cNvSpPr>
            <a:spLocks noGrp="1"/>
          </p:cNvSpPr>
          <p:nvPr>
            <p:ph idx="1"/>
          </p:nvPr>
        </p:nvSpPr>
        <p:spPr/>
        <p:txBody>
          <a:bodyPr>
            <a:normAutofit/>
          </a:bodyPr>
          <a:lstStyle/>
          <a:p>
            <a:r>
              <a:rPr lang="en-US" sz="2800" dirty="0"/>
              <a:t>The project focuses on </a:t>
            </a:r>
            <a:r>
              <a:rPr lang="en-US" sz="2800" b="1" dirty="0"/>
              <a:t>Exploratory Data Analysis (EDA)</a:t>
            </a:r>
            <a:r>
              <a:rPr lang="en-US" sz="2800" dirty="0"/>
              <a:t> of laptop prices to understand the key factors influencing pricing.</a:t>
            </a:r>
          </a:p>
          <a:p>
            <a:endParaRPr lang="en-US" sz="2800" dirty="0"/>
          </a:p>
          <a:p>
            <a:r>
              <a:rPr lang="en-US" sz="2800" dirty="0"/>
              <a:t>The laptop market is highly diverse, with variations in </a:t>
            </a:r>
            <a:r>
              <a:rPr lang="en-US" sz="2800" b="1" dirty="0"/>
              <a:t>brand, specifications, and features</a:t>
            </a:r>
            <a:r>
              <a:rPr lang="en-US" sz="2800" dirty="0"/>
              <a:t>, making it challenging for both customers and sellers to make informed decisions.</a:t>
            </a:r>
          </a:p>
          <a:p>
            <a:pPr marL="0" indent="0">
              <a:buNone/>
            </a:pPr>
            <a:endParaRPr lang="en-IN" dirty="0"/>
          </a:p>
        </p:txBody>
      </p:sp>
    </p:spTree>
    <p:extLst>
      <p:ext uri="{BB962C8B-B14F-4D97-AF65-F5344CB8AC3E}">
        <p14:creationId xmlns:p14="http://schemas.microsoft.com/office/powerpoint/2010/main" val="983455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2621-3569-E7D5-3EBB-B2B25EF5F862}"/>
              </a:ext>
            </a:extLst>
          </p:cNvPr>
          <p:cNvSpPr>
            <a:spLocks noGrp="1"/>
          </p:cNvSpPr>
          <p:nvPr>
            <p:ph type="title"/>
          </p:nvPr>
        </p:nvSpPr>
        <p:spPr/>
        <p:txBody>
          <a:bodyPr>
            <a:normAutofit/>
          </a:bodyPr>
          <a:lstStyle/>
          <a:p>
            <a:r>
              <a:rPr lang="en-US" sz="4800" b="1" dirty="0"/>
              <a:t>Data Understanding</a:t>
            </a:r>
            <a:endParaRPr lang="en-IN" sz="4800" b="1" dirty="0"/>
          </a:p>
        </p:txBody>
      </p:sp>
      <p:sp>
        <p:nvSpPr>
          <p:cNvPr id="3" name="Content Placeholder 2">
            <a:extLst>
              <a:ext uri="{FF2B5EF4-FFF2-40B4-BE49-F238E27FC236}">
                <a16:creationId xmlns:a16="http://schemas.microsoft.com/office/drawing/2014/main" id="{7FDA3440-68B2-C559-87A7-54DFF6242094}"/>
              </a:ext>
            </a:extLst>
          </p:cNvPr>
          <p:cNvSpPr>
            <a:spLocks noGrp="1"/>
          </p:cNvSpPr>
          <p:nvPr>
            <p:ph idx="1"/>
          </p:nvPr>
        </p:nvSpPr>
        <p:spPr/>
        <p:txBody>
          <a:bodyPr/>
          <a:lstStyle/>
          <a:p>
            <a:r>
              <a:rPr lang="en-US" sz="2400" dirty="0"/>
              <a:t>First in data understanding we need to import the CSV file.</a:t>
            </a:r>
          </a:p>
          <a:p>
            <a:endParaRPr lang="en-US" sz="2400" dirty="0"/>
          </a:p>
          <a:p>
            <a:r>
              <a:rPr lang="en-US" altLang="en-US" sz="2400" dirty="0">
                <a:latin typeface="Arial" panose="020B0604020202020204" pitchFamily="34" charset="0"/>
              </a:rPr>
              <a:t>The dataset (</a:t>
            </a:r>
            <a:r>
              <a:rPr lang="en-US" altLang="en-US" sz="2400" dirty="0">
                <a:latin typeface="Arial Unicode MS"/>
              </a:rPr>
              <a:t>laptopData.csv</a:t>
            </a:r>
            <a:r>
              <a:rPr lang="en-US" altLang="en-US" sz="2400" dirty="0"/>
              <a:t>) contains detailed information about different laptops, including their specifications, features, and prices. Each row represents a laptop model, while the columns provide attributes such as brand, processor, RAM, storage, GPU, display, operating system, and price. </a:t>
            </a:r>
          </a:p>
          <a:p>
            <a:endParaRPr lang="en-IN" dirty="0"/>
          </a:p>
        </p:txBody>
      </p:sp>
    </p:spTree>
    <p:extLst>
      <p:ext uri="{BB962C8B-B14F-4D97-AF65-F5344CB8AC3E}">
        <p14:creationId xmlns:p14="http://schemas.microsoft.com/office/powerpoint/2010/main" val="12266185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23D2A-F8C3-0761-3491-25F9E63FC2E1}"/>
              </a:ext>
            </a:extLst>
          </p:cNvPr>
          <p:cNvSpPr>
            <a:spLocks noGrp="1"/>
          </p:cNvSpPr>
          <p:nvPr>
            <p:ph type="title"/>
          </p:nvPr>
        </p:nvSpPr>
        <p:spPr/>
        <p:txBody>
          <a:bodyPr>
            <a:normAutofit/>
          </a:bodyPr>
          <a:lstStyle/>
          <a:p>
            <a:r>
              <a:rPr lang="en-US" sz="5400" b="1" dirty="0"/>
              <a:t>Data Cleaning</a:t>
            </a:r>
            <a:endParaRPr lang="en-IN" sz="5400" b="1" dirty="0"/>
          </a:p>
        </p:txBody>
      </p:sp>
      <p:sp>
        <p:nvSpPr>
          <p:cNvPr id="6" name="Content Placeholder 5">
            <a:extLst>
              <a:ext uri="{FF2B5EF4-FFF2-40B4-BE49-F238E27FC236}">
                <a16:creationId xmlns:a16="http://schemas.microsoft.com/office/drawing/2014/main" id="{1969C411-CE3D-15D9-FB29-53BEF15394C2}"/>
              </a:ext>
            </a:extLst>
          </p:cNvPr>
          <p:cNvSpPr>
            <a:spLocks noGrp="1"/>
          </p:cNvSpPr>
          <p:nvPr>
            <p:ph idx="1"/>
          </p:nvPr>
        </p:nvSpPr>
        <p:spPr/>
        <p:txBody>
          <a:bodyPr/>
          <a:lstStyle/>
          <a:p>
            <a:pPr>
              <a:lnSpc>
                <a:spcPct val="150000"/>
              </a:lnSpc>
            </a:pPr>
            <a:r>
              <a:rPr lang="en-US" sz="3200" dirty="0"/>
              <a:t>Fixing Rows &amp; Columns </a:t>
            </a:r>
          </a:p>
          <a:p>
            <a:pPr>
              <a:lnSpc>
                <a:spcPct val="150000"/>
              </a:lnSpc>
            </a:pPr>
            <a:r>
              <a:rPr lang="en-US" sz="3200" dirty="0"/>
              <a:t>Handling Missing Values</a:t>
            </a:r>
          </a:p>
          <a:p>
            <a:pPr>
              <a:lnSpc>
                <a:spcPct val="150000"/>
              </a:lnSpc>
            </a:pPr>
            <a:r>
              <a:rPr lang="en-US" sz="3200" dirty="0"/>
              <a:t>Data type conversion</a:t>
            </a:r>
          </a:p>
          <a:p>
            <a:pPr>
              <a:lnSpc>
                <a:spcPct val="150000"/>
              </a:lnSpc>
            </a:pPr>
            <a:r>
              <a:rPr lang="en-US" sz="3200" dirty="0"/>
              <a:t>Checking outliers</a:t>
            </a:r>
            <a:endParaRPr lang="en-IN" sz="3200" dirty="0"/>
          </a:p>
          <a:p>
            <a:endParaRPr lang="en-IN" dirty="0"/>
          </a:p>
        </p:txBody>
      </p:sp>
    </p:spTree>
    <p:extLst>
      <p:ext uri="{BB962C8B-B14F-4D97-AF65-F5344CB8AC3E}">
        <p14:creationId xmlns:p14="http://schemas.microsoft.com/office/powerpoint/2010/main" val="915655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AF6DE-BF9A-2DFB-C213-46E53DD92D74}"/>
              </a:ext>
            </a:extLst>
          </p:cNvPr>
          <p:cNvSpPr>
            <a:spLocks noGrp="1"/>
          </p:cNvSpPr>
          <p:nvPr>
            <p:ph type="title"/>
          </p:nvPr>
        </p:nvSpPr>
        <p:spPr/>
        <p:txBody>
          <a:bodyPr>
            <a:normAutofit/>
          </a:bodyPr>
          <a:lstStyle/>
          <a:p>
            <a:r>
              <a:rPr lang="en-US" sz="4400" b="1" dirty="0"/>
              <a:t>Fixing Rows &amp; Columns</a:t>
            </a:r>
            <a:endParaRPr lang="en-IN" sz="4400" b="1" dirty="0"/>
          </a:p>
        </p:txBody>
      </p:sp>
      <p:sp>
        <p:nvSpPr>
          <p:cNvPr id="3" name="Content Placeholder 2">
            <a:extLst>
              <a:ext uri="{FF2B5EF4-FFF2-40B4-BE49-F238E27FC236}">
                <a16:creationId xmlns:a16="http://schemas.microsoft.com/office/drawing/2014/main" id="{A3C4B469-8F0F-11F4-24A0-7F22EFAE79FA}"/>
              </a:ext>
            </a:extLst>
          </p:cNvPr>
          <p:cNvSpPr>
            <a:spLocks noGrp="1"/>
          </p:cNvSpPr>
          <p:nvPr>
            <p:ph idx="1"/>
          </p:nvPr>
        </p:nvSpPr>
        <p:spPr/>
        <p:txBody>
          <a:bodyPr/>
          <a:lstStyle/>
          <a:p>
            <a:r>
              <a:rPr lang="en-US" dirty="0"/>
              <a:t>This step ensures the dataset has a clean structure before moving into deeper analysis.</a:t>
            </a:r>
          </a:p>
          <a:p>
            <a:endParaRPr lang="en-IN" dirty="0"/>
          </a:p>
          <a:p>
            <a:endParaRPr lang="en-IN" dirty="0"/>
          </a:p>
        </p:txBody>
      </p:sp>
      <p:pic>
        <p:nvPicPr>
          <p:cNvPr id="4" name="Content Placeholder 7">
            <a:extLst>
              <a:ext uri="{FF2B5EF4-FFF2-40B4-BE49-F238E27FC236}">
                <a16:creationId xmlns:a16="http://schemas.microsoft.com/office/drawing/2014/main" id="{8BE685D3-5E7E-D7E3-20AB-2A230BB35C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551" y="3197302"/>
            <a:ext cx="7220854" cy="3051098"/>
          </a:xfrm>
          <a:prstGeom prst="rect">
            <a:avLst/>
          </a:prstGeom>
        </p:spPr>
      </p:pic>
    </p:spTree>
    <p:extLst>
      <p:ext uri="{BB962C8B-B14F-4D97-AF65-F5344CB8AC3E}">
        <p14:creationId xmlns:p14="http://schemas.microsoft.com/office/powerpoint/2010/main" val="2304883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ED1F-B753-8444-F186-C2101227FB5E}"/>
              </a:ext>
            </a:extLst>
          </p:cNvPr>
          <p:cNvSpPr>
            <a:spLocks noGrp="1"/>
          </p:cNvSpPr>
          <p:nvPr>
            <p:ph type="title"/>
          </p:nvPr>
        </p:nvSpPr>
        <p:spPr/>
        <p:txBody>
          <a:bodyPr>
            <a:normAutofit/>
          </a:bodyPr>
          <a:lstStyle/>
          <a:p>
            <a:r>
              <a:rPr lang="en-US" sz="4400" b="1" dirty="0"/>
              <a:t>Handling Missing values</a:t>
            </a:r>
            <a:endParaRPr lang="en-IN" sz="4400" b="1" dirty="0"/>
          </a:p>
        </p:txBody>
      </p:sp>
      <p:sp>
        <p:nvSpPr>
          <p:cNvPr id="3" name="Content Placeholder 2">
            <a:extLst>
              <a:ext uri="{FF2B5EF4-FFF2-40B4-BE49-F238E27FC236}">
                <a16:creationId xmlns:a16="http://schemas.microsoft.com/office/drawing/2014/main" id="{E5B0EB74-DCE8-2B65-B695-468BF817B743}"/>
              </a:ext>
            </a:extLst>
          </p:cNvPr>
          <p:cNvSpPr>
            <a:spLocks noGrp="1"/>
          </p:cNvSpPr>
          <p:nvPr>
            <p:ph idx="1"/>
          </p:nvPr>
        </p:nvSpPr>
        <p:spPr/>
        <p:txBody>
          <a:bodyPr/>
          <a:lstStyle/>
          <a:p>
            <a:pPr>
              <a:buFont typeface="Wingdings" panose="05000000000000000000" pitchFamily="2" charset="2"/>
              <a:buChar char="Ø"/>
            </a:pPr>
            <a:r>
              <a:rPr lang="en-US" sz="2800" dirty="0" err="1"/>
              <a:t>Isnull</a:t>
            </a:r>
            <a:r>
              <a:rPr lang="en-US" sz="2800" dirty="0"/>
              <a:t> () function is used to find missing values in dataset.</a:t>
            </a:r>
          </a:p>
          <a:p>
            <a:pPr>
              <a:buFont typeface="Wingdings" panose="05000000000000000000" pitchFamily="2" charset="2"/>
              <a:buChar char="Ø"/>
            </a:pPr>
            <a:r>
              <a:rPr lang="en-US" sz="2800" dirty="0"/>
              <a:t>Unique () function and replace the unique values.</a:t>
            </a:r>
          </a:p>
          <a:p>
            <a:pPr>
              <a:buFont typeface="Wingdings" panose="05000000000000000000" pitchFamily="2" charset="2"/>
              <a:buChar char="Ø"/>
            </a:pPr>
            <a:r>
              <a:rPr lang="en-US" sz="2800" dirty="0"/>
              <a:t>Mode is used to fill the missing values in text and category columns.</a:t>
            </a:r>
          </a:p>
          <a:p>
            <a:pPr>
              <a:buFont typeface="Wingdings" panose="05000000000000000000" pitchFamily="2" charset="2"/>
              <a:buChar char="Ø"/>
            </a:pPr>
            <a:r>
              <a:rPr lang="en-US" sz="2800" dirty="0"/>
              <a:t>Mean and Median is used to fill the missing values in numerical columns.</a:t>
            </a:r>
          </a:p>
          <a:p>
            <a:endParaRPr lang="en-IN" dirty="0"/>
          </a:p>
        </p:txBody>
      </p:sp>
    </p:spTree>
    <p:extLst>
      <p:ext uri="{BB962C8B-B14F-4D97-AF65-F5344CB8AC3E}">
        <p14:creationId xmlns:p14="http://schemas.microsoft.com/office/powerpoint/2010/main" val="3728223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149D2-6384-F457-49F8-C4981E128895}"/>
              </a:ext>
            </a:extLst>
          </p:cNvPr>
          <p:cNvSpPr>
            <a:spLocks noGrp="1"/>
          </p:cNvSpPr>
          <p:nvPr>
            <p:ph type="title"/>
          </p:nvPr>
        </p:nvSpPr>
        <p:spPr/>
        <p:txBody>
          <a:bodyPr>
            <a:normAutofit/>
          </a:bodyPr>
          <a:lstStyle/>
          <a:p>
            <a:r>
              <a:rPr lang="en-US" sz="4400" b="1" dirty="0"/>
              <a:t>Converting Datatype</a:t>
            </a:r>
            <a:endParaRPr lang="en-IN" sz="4400" b="1" dirty="0"/>
          </a:p>
        </p:txBody>
      </p:sp>
      <p:sp>
        <p:nvSpPr>
          <p:cNvPr id="3" name="Content Placeholder 2">
            <a:extLst>
              <a:ext uri="{FF2B5EF4-FFF2-40B4-BE49-F238E27FC236}">
                <a16:creationId xmlns:a16="http://schemas.microsoft.com/office/drawing/2014/main" id="{5E2F3536-0FA2-D288-80A7-A0478E662739}"/>
              </a:ext>
            </a:extLst>
          </p:cNvPr>
          <p:cNvSpPr>
            <a:spLocks noGrp="1"/>
          </p:cNvSpPr>
          <p:nvPr>
            <p:ph idx="1"/>
          </p:nvPr>
        </p:nvSpPr>
        <p:spPr/>
        <p:txBody>
          <a:bodyPr/>
          <a:lstStyle/>
          <a:p>
            <a:pPr>
              <a:buFont typeface="Wingdings" panose="05000000000000000000" pitchFamily="2" charset="2"/>
              <a:buChar char="Ø"/>
            </a:pPr>
            <a:r>
              <a:rPr lang="en-US" sz="2800" dirty="0" err="1"/>
              <a:t>Df</a:t>
            </a:r>
            <a:r>
              <a:rPr lang="en-US" sz="2800" dirty="0"/>
              <a:t>. </a:t>
            </a:r>
            <a:r>
              <a:rPr lang="en-US" sz="2800" dirty="0" err="1"/>
              <a:t>to_numeric</a:t>
            </a:r>
            <a:r>
              <a:rPr lang="en-US" sz="2800" dirty="0"/>
              <a:t>() is used to change datatype object into numeric datatype.</a:t>
            </a:r>
          </a:p>
          <a:p>
            <a:pPr>
              <a:buFont typeface="Wingdings" panose="05000000000000000000" pitchFamily="2" charset="2"/>
              <a:buChar char="Ø"/>
            </a:pPr>
            <a:endParaRPr lang="en-US" sz="2800" dirty="0"/>
          </a:p>
          <a:p>
            <a:pPr>
              <a:buFont typeface="Wingdings" panose="05000000000000000000" pitchFamily="2" charset="2"/>
              <a:buChar char="Ø"/>
            </a:pPr>
            <a:r>
              <a:rPr lang="en-US" sz="2800" dirty="0" err="1"/>
              <a:t>Astype</a:t>
            </a:r>
            <a:r>
              <a:rPr lang="en-US" sz="2800" dirty="0"/>
              <a:t>( int, float) is used change the datatype into int or float.</a:t>
            </a:r>
            <a:endParaRPr lang="en-IN" sz="2800" dirty="0"/>
          </a:p>
          <a:p>
            <a:endParaRPr lang="en-IN" dirty="0"/>
          </a:p>
        </p:txBody>
      </p:sp>
    </p:spTree>
    <p:extLst>
      <p:ext uri="{BB962C8B-B14F-4D97-AF65-F5344CB8AC3E}">
        <p14:creationId xmlns:p14="http://schemas.microsoft.com/office/powerpoint/2010/main" val="3092016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730D4-BEB3-9CB9-D357-5DEC4ECE0512}"/>
              </a:ext>
            </a:extLst>
          </p:cNvPr>
          <p:cNvSpPr>
            <a:spLocks noGrp="1"/>
          </p:cNvSpPr>
          <p:nvPr>
            <p:ph type="title"/>
          </p:nvPr>
        </p:nvSpPr>
        <p:spPr>
          <a:xfrm>
            <a:off x="664313" y="562209"/>
            <a:ext cx="8596668" cy="1320800"/>
          </a:xfrm>
        </p:spPr>
        <p:txBody>
          <a:bodyPr>
            <a:normAutofit/>
          </a:bodyPr>
          <a:lstStyle/>
          <a:p>
            <a:r>
              <a:rPr lang="en-US" sz="4400" b="1" dirty="0"/>
              <a:t>Checking Outliers</a:t>
            </a:r>
            <a:endParaRPr lang="en-IN" sz="4400" b="1" dirty="0"/>
          </a:p>
        </p:txBody>
      </p:sp>
      <p:sp>
        <p:nvSpPr>
          <p:cNvPr id="3" name="Content Placeholder 2">
            <a:extLst>
              <a:ext uri="{FF2B5EF4-FFF2-40B4-BE49-F238E27FC236}">
                <a16:creationId xmlns:a16="http://schemas.microsoft.com/office/drawing/2014/main" id="{BE51161E-AD76-085C-F947-97E805B533CD}"/>
              </a:ext>
            </a:extLst>
          </p:cNvPr>
          <p:cNvSpPr>
            <a:spLocks noGrp="1"/>
          </p:cNvSpPr>
          <p:nvPr>
            <p:ph idx="1"/>
          </p:nvPr>
        </p:nvSpPr>
        <p:spPr>
          <a:xfrm>
            <a:off x="581864" y="1732326"/>
            <a:ext cx="8596668" cy="3880773"/>
          </a:xfrm>
        </p:spPr>
        <p:txBody>
          <a:bodyPr/>
          <a:lstStyle/>
          <a:p>
            <a:r>
              <a:rPr lang="en-US" sz="2400" dirty="0"/>
              <a:t>Outliers are unusual values that don’t fit the general pattern of the data. Handling them properly ensures meaningful insights.</a:t>
            </a:r>
          </a:p>
          <a:p>
            <a:endParaRPr lang="en-US" dirty="0"/>
          </a:p>
          <a:p>
            <a:endParaRPr lang="en-IN" dirty="0"/>
          </a:p>
        </p:txBody>
      </p:sp>
      <p:pic>
        <p:nvPicPr>
          <p:cNvPr id="4" name="Content Placeholder 5">
            <a:extLst>
              <a:ext uri="{FF2B5EF4-FFF2-40B4-BE49-F238E27FC236}">
                <a16:creationId xmlns:a16="http://schemas.microsoft.com/office/drawing/2014/main" id="{CD3D7EA4-E6A9-9D7B-8AA5-D0C33461F8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313" y="3137897"/>
            <a:ext cx="4392521" cy="3133654"/>
          </a:xfrm>
          <a:prstGeom prst="rect">
            <a:avLst/>
          </a:prstGeom>
        </p:spPr>
      </p:pic>
      <p:pic>
        <p:nvPicPr>
          <p:cNvPr id="5" name="Picture 4" descr="A blue rectangular object with white text&#10;&#10;AI-generated content may be incorrect.">
            <a:extLst>
              <a:ext uri="{FF2B5EF4-FFF2-40B4-BE49-F238E27FC236}">
                <a16:creationId xmlns:a16="http://schemas.microsoft.com/office/drawing/2014/main" id="{AD528E8E-E885-E99D-7BCE-F662962B35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2229" y="3137897"/>
            <a:ext cx="3796303" cy="3133654"/>
          </a:xfrm>
          <a:prstGeom prst="rect">
            <a:avLst/>
          </a:prstGeom>
        </p:spPr>
      </p:pic>
    </p:spTree>
    <p:extLst>
      <p:ext uri="{BB962C8B-B14F-4D97-AF65-F5344CB8AC3E}">
        <p14:creationId xmlns:p14="http://schemas.microsoft.com/office/powerpoint/2010/main" val="1295764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1148-908D-2B3C-1CD2-83CD5CF9FFE4}"/>
              </a:ext>
            </a:extLst>
          </p:cNvPr>
          <p:cNvSpPr>
            <a:spLocks noGrp="1"/>
          </p:cNvSpPr>
          <p:nvPr>
            <p:ph type="title"/>
          </p:nvPr>
        </p:nvSpPr>
        <p:spPr/>
        <p:txBody>
          <a:bodyPr>
            <a:normAutofit/>
          </a:bodyPr>
          <a:lstStyle/>
          <a:p>
            <a:r>
              <a:rPr lang="en-US" sz="4400" b="1" dirty="0"/>
              <a:t>Descriptive Analysis</a:t>
            </a:r>
            <a:endParaRPr lang="en-IN" sz="4400" b="1" dirty="0"/>
          </a:p>
        </p:txBody>
      </p:sp>
      <p:pic>
        <p:nvPicPr>
          <p:cNvPr id="4" name="Content Placeholder 5">
            <a:extLst>
              <a:ext uri="{FF2B5EF4-FFF2-40B4-BE49-F238E27FC236}">
                <a16:creationId xmlns:a16="http://schemas.microsoft.com/office/drawing/2014/main" id="{32CDE71C-CD6B-0AB8-1222-8194774632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6891" y="1832364"/>
            <a:ext cx="6405159" cy="4209620"/>
          </a:xfrm>
        </p:spPr>
      </p:pic>
    </p:spTree>
    <p:extLst>
      <p:ext uri="{BB962C8B-B14F-4D97-AF65-F5344CB8AC3E}">
        <p14:creationId xmlns:p14="http://schemas.microsoft.com/office/powerpoint/2010/main" val="3634855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42BD2-24EB-7EE4-8DA1-630F7F741809}"/>
              </a:ext>
            </a:extLst>
          </p:cNvPr>
          <p:cNvSpPr>
            <a:spLocks noGrp="1"/>
          </p:cNvSpPr>
          <p:nvPr>
            <p:ph type="title"/>
          </p:nvPr>
        </p:nvSpPr>
        <p:spPr/>
        <p:txBody>
          <a:bodyPr>
            <a:normAutofit/>
          </a:bodyPr>
          <a:lstStyle/>
          <a:p>
            <a:r>
              <a:rPr lang="en-US" sz="4800" b="1" dirty="0"/>
              <a:t>Data Visualization</a:t>
            </a:r>
            <a:endParaRPr lang="en-IN" sz="4800" b="1" dirty="0"/>
          </a:p>
        </p:txBody>
      </p:sp>
      <p:sp>
        <p:nvSpPr>
          <p:cNvPr id="3" name="Content Placeholder 2">
            <a:extLst>
              <a:ext uri="{FF2B5EF4-FFF2-40B4-BE49-F238E27FC236}">
                <a16:creationId xmlns:a16="http://schemas.microsoft.com/office/drawing/2014/main" id="{8B9E421F-208B-7380-2D84-B633FB23A1F4}"/>
              </a:ext>
            </a:extLst>
          </p:cNvPr>
          <p:cNvSpPr>
            <a:spLocks noGrp="1"/>
          </p:cNvSpPr>
          <p:nvPr>
            <p:ph idx="1"/>
          </p:nvPr>
        </p:nvSpPr>
        <p:spPr/>
        <p:txBody>
          <a:bodyPr>
            <a:normAutofit/>
          </a:bodyPr>
          <a:lstStyle/>
          <a:p>
            <a:r>
              <a:rPr lang="en-US" sz="2000" dirty="0"/>
              <a:t>Data visualization is a key part of Exploratory Data Analysis (EDA) that helps transform raw data into meaningful insights through graphs and charts. In this project, visualizations are used to study laptop prices, specifications, and brand performance.</a:t>
            </a:r>
          </a:p>
          <a:p>
            <a:pPr marL="0" indent="0">
              <a:buNone/>
            </a:pPr>
            <a:r>
              <a:rPr lang="en-IN" sz="2000" dirty="0"/>
              <a:t>                      </a:t>
            </a:r>
          </a:p>
          <a:p>
            <a:pPr>
              <a:buFont typeface="Wingdings" panose="05000000000000000000" pitchFamily="2" charset="2"/>
              <a:buChar char="Ø"/>
            </a:pPr>
            <a:r>
              <a:rPr lang="en-US" sz="2000" b="1" dirty="0"/>
              <a:t>Univariate analysis</a:t>
            </a:r>
          </a:p>
          <a:p>
            <a:pPr>
              <a:buFont typeface="Wingdings" panose="05000000000000000000" pitchFamily="2" charset="2"/>
              <a:buChar char="Ø"/>
            </a:pPr>
            <a:r>
              <a:rPr lang="en-US" sz="2000" b="1" dirty="0"/>
              <a:t>Bivariate analysis</a:t>
            </a:r>
          </a:p>
          <a:p>
            <a:pPr>
              <a:buFont typeface="Wingdings" panose="05000000000000000000" pitchFamily="2" charset="2"/>
              <a:buChar char="Ø"/>
            </a:pPr>
            <a:r>
              <a:rPr lang="en-US" sz="2000" b="1" dirty="0"/>
              <a:t>Multivariate analysis</a:t>
            </a:r>
            <a:endParaRPr lang="en-IN" sz="2000" dirty="0"/>
          </a:p>
        </p:txBody>
      </p:sp>
    </p:spTree>
    <p:extLst>
      <p:ext uri="{BB962C8B-B14F-4D97-AF65-F5344CB8AC3E}">
        <p14:creationId xmlns:p14="http://schemas.microsoft.com/office/powerpoint/2010/main" val="1428716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6816D-4EC7-6865-CB37-9F5EF41B2C60}"/>
              </a:ext>
            </a:extLst>
          </p:cNvPr>
          <p:cNvSpPr>
            <a:spLocks noGrp="1"/>
          </p:cNvSpPr>
          <p:nvPr>
            <p:ph type="title"/>
          </p:nvPr>
        </p:nvSpPr>
        <p:spPr>
          <a:xfrm>
            <a:off x="2482984" y="156238"/>
            <a:ext cx="8596668" cy="1320800"/>
          </a:xfrm>
        </p:spPr>
        <p:txBody>
          <a:bodyPr/>
          <a:lstStyle/>
          <a:p>
            <a:pPr marL="0" marR="0" lvl="0" indent="0" defTabSz="914400" rtl="0" eaLnBrk="1" fontAlgn="auto" latinLnBrk="0" hangingPunct="1">
              <a:lnSpc>
                <a:spcPct val="100000"/>
              </a:lnSpc>
              <a:spcBef>
                <a:spcPts val="0"/>
              </a:spcBef>
              <a:spcAft>
                <a:spcPts val="0"/>
              </a:spcAft>
              <a:tabLst/>
              <a:defRPr/>
            </a:pPr>
            <a:r>
              <a:rPr kumimoji="0" lang="en-US" b="1" i="0" u="none" strike="noStrike" kern="1200" cap="none" spc="0" normalizeH="0" baseline="0" noProof="0" dirty="0">
                <a:ln>
                  <a:noFill/>
                </a:ln>
                <a:solidFill>
                  <a:schemeClr val="accent2"/>
                </a:solidFill>
                <a:effectLst/>
                <a:uLnTx/>
                <a:uFillTx/>
                <a:latin typeface="Franklin Gothic Book"/>
                <a:ea typeface="+mn-ea"/>
                <a:cs typeface="+mn-cs"/>
              </a:rPr>
              <a:t>Univariate Visualization</a:t>
            </a:r>
            <a:br>
              <a:rPr kumimoji="0" lang="en-IN" sz="2400" b="1" i="0" u="none" strike="noStrike" kern="1200" cap="none" spc="0" normalizeH="0" baseline="0" noProof="0" dirty="0">
                <a:ln>
                  <a:noFill/>
                </a:ln>
                <a:solidFill>
                  <a:srgbClr val="000000"/>
                </a:solidFill>
                <a:effectLst/>
                <a:uLnTx/>
                <a:uFillTx/>
                <a:latin typeface="Franklin Gothic Book"/>
                <a:ea typeface="+mn-ea"/>
                <a:cs typeface="+mn-cs"/>
              </a:rPr>
            </a:br>
            <a:endParaRPr lang="en-IN" dirty="0"/>
          </a:p>
        </p:txBody>
      </p:sp>
      <p:pic>
        <p:nvPicPr>
          <p:cNvPr id="4" name="Content Placeholder 3">
            <a:extLst>
              <a:ext uri="{FF2B5EF4-FFF2-40B4-BE49-F238E27FC236}">
                <a16:creationId xmlns:a16="http://schemas.microsoft.com/office/drawing/2014/main" id="{D557DC1E-7387-85FB-E3F8-243EB337FE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7858" y="1269337"/>
            <a:ext cx="6620719" cy="4564304"/>
          </a:xfrm>
          <a:prstGeom prst="rect">
            <a:avLst/>
          </a:prstGeom>
        </p:spPr>
      </p:pic>
    </p:spTree>
    <p:extLst>
      <p:ext uri="{BB962C8B-B14F-4D97-AF65-F5344CB8AC3E}">
        <p14:creationId xmlns:p14="http://schemas.microsoft.com/office/powerpoint/2010/main" val="2169292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D927B-05FD-7DB2-9DAE-23C55F80DB53}"/>
              </a:ext>
            </a:extLst>
          </p:cNvPr>
          <p:cNvSpPr>
            <a:spLocks noGrp="1"/>
          </p:cNvSpPr>
          <p:nvPr>
            <p:ph type="title"/>
          </p:nvPr>
        </p:nvSpPr>
        <p:spPr>
          <a:xfrm>
            <a:off x="3189040" y="156238"/>
            <a:ext cx="8596668" cy="1320800"/>
          </a:xfrm>
        </p:spPr>
        <p:txBody>
          <a:bodyPr>
            <a:normAutofit fontScale="90000"/>
          </a:bodyPr>
          <a:lstStyle/>
          <a:p>
            <a:pPr marL="0" marR="0" lvl="0" indent="0" defTabSz="914400" rtl="0" eaLnBrk="1" fontAlgn="auto" latinLnBrk="0" hangingPunct="1">
              <a:lnSpc>
                <a:spcPct val="100000"/>
              </a:lnSpc>
              <a:spcBef>
                <a:spcPts val="0"/>
              </a:spcBef>
              <a:spcAft>
                <a:spcPts val="0"/>
              </a:spcAft>
              <a:tabLst/>
              <a:defRPr/>
            </a:pPr>
            <a:r>
              <a:rPr kumimoji="0" lang="en-US" b="1" i="0" u="none" strike="noStrike" kern="1200" cap="none" spc="0" normalizeH="0" baseline="0" noProof="0" dirty="0">
                <a:ln>
                  <a:noFill/>
                </a:ln>
                <a:solidFill>
                  <a:schemeClr val="accent2"/>
                </a:solidFill>
                <a:effectLst/>
                <a:uLnTx/>
                <a:uFillTx/>
                <a:latin typeface="Franklin Gothic Book"/>
                <a:ea typeface="+mn-ea"/>
                <a:cs typeface="+mn-cs"/>
              </a:rPr>
              <a:t>Bivariate Visualization</a:t>
            </a:r>
            <a:br>
              <a:rPr kumimoji="0" lang="en-IN" b="1" i="0" u="none" strike="noStrike" kern="1200" cap="none" spc="0" normalizeH="0" baseline="0" noProof="0" dirty="0">
                <a:ln>
                  <a:noFill/>
                </a:ln>
                <a:solidFill>
                  <a:srgbClr val="000000"/>
                </a:solidFill>
                <a:effectLst/>
                <a:uLnTx/>
                <a:uFillTx/>
                <a:latin typeface="Franklin Gothic Book"/>
                <a:ea typeface="+mn-ea"/>
                <a:cs typeface="+mn-cs"/>
              </a:rPr>
            </a:br>
            <a:endParaRPr lang="en-IN" sz="4800" dirty="0"/>
          </a:p>
        </p:txBody>
      </p:sp>
      <p:pic>
        <p:nvPicPr>
          <p:cNvPr id="4" name="Content Placeholder 3">
            <a:extLst>
              <a:ext uri="{FF2B5EF4-FFF2-40B4-BE49-F238E27FC236}">
                <a16:creationId xmlns:a16="http://schemas.microsoft.com/office/drawing/2014/main" id="{294B9914-F89C-85BB-A146-69FD42E6D78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7387" y="1477038"/>
            <a:ext cx="7592993" cy="4958486"/>
          </a:xfrm>
          <a:prstGeom prst="rect">
            <a:avLst/>
          </a:prstGeom>
        </p:spPr>
      </p:pic>
    </p:spTree>
    <p:extLst>
      <p:ext uri="{BB962C8B-B14F-4D97-AF65-F5344CB8AC3E}">
        <p14:creationId xmlns:p14="http://schemas.microsoft.com/office/powerpoint/2010/main" val="1402841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0CC7E-3495-B3AE-E566-F2372DF910D3}"/>
              </a:ext>
            </a:extLst>
          </p:cNvPr>
          <p:cNvSpPr>
            <a:spLocks noGrp="1"/>
          </p:cNvSpPr>
          <p:nvPr>
            <p:ph type="title"/>
          </p:nvPr>
        </p:nvSpPr>
        <p:spPr>
          <a:xfrm>
            <a:off x="2795501" y="156238"/>
            <a:ext cx="8596668" cy="1320800"/>
          </a:xfrm>
        </p:spPr>
        <p:txBody>
          <a:bodyPr>
            <a:normAutofit/>
          </a:bodyPr>
          <a:lstStyle/>
          <a:p>
            <a:pPr marL="0" marR="0" lvl="0" indent="0" defTabSz="914400" rtl="0" eaLnBrk="1" fontAlgn="auto" latinLnBrk="0" hangingPunct="1">
              <a:lnSpc>
                <a:spcPct val="100000"/>
              </a:lnSpc>
              <a:spcBef>
                <a:spcPts val="0"/>
              </a:spcBef>
              <a:spcAft>
                <a:spcPts val="0"/>
              </a:spcAft>
              <a:tabLst/>
              <a:defRPr/>
            </a:pPr>
            <a:r>
              <a:rPr kumimoji="0" lang="en-US" sz="3200" b="1" i="0" u="none" strike="noStrike" kern="1200" cap="none" spc="0" normalizeH="0" baseline="0" noProof="0" dirty="0">
                <a:ln>
                  <a:noFill/>
                </a:ln>
                <a:solidFill>
                  <a:schemeClr val="accent2"/>
                </a:solidFill>
                <a:effectLst/>
                <a:uLnTx/>
                <a:uFillTx/>
                <a:latin typeface="Franklin Gothic Book"/>
                <a:ea typeface="+mn-ea"/>
                <a:cs typeface="+mn-cs"/>
              </a:rPr>
              <a:t>Multivariate Visualization</a:t>
            </a:r>
            <a:br>
              <a:rPr kumimoji="0" lang="en-IN" sz="3200" b="1" i="0" u="none" strike="noStrike" kern="1200" cap="none" spc="0" normalizeH="0" baseline="0" noProof="0" dirty="0">
                <a:ln>
                  <a:noFill/>
                </a:ln>
                <a:solidFill>
                  <a:schemeClr val="accent2"/>
                </a:solidFill>
                <a:effectLst/>
                <a:uLnTx/>
                <a:uFillTx/>
                <a:latin typeface="Franklin Gothic Book"/>
                <a:ea typeface="+mn-ea"/>
                <a:cs typeface="+mn-cs"/>
              </a:rPr>
            </a:br>
            <a:endParaRPr lang="en-IN" sz="4400" dirty="0">
              <a:solidFill>
                <a:schemeClr val="accent2"/>
              </a:solidFill>
            </a:endParaRPr>
          </a:p>
        </p:txBody>
      </p:sp>
      <p:pic>
        <p:nvPicPr>
          <p:cNvPr id="4" name="Content Placeholder 3" descr="A screenshot of a computer screen&#10;&#10;AI-generated content may be incorrect.">
            <a:extLst>
              <a:ext uri="{FF2B5EF4-FFF2-40B4-BE49-F238E27FC236}">
                <a16:creationId xmlns:a16="http://schemas.microsoft.com/office/drawing/2014/main" id="{9E87CCE8-7C64-9C17-908B-5DE10B9473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11169" y="1477038"/>
            <a:ext cx="7882359" cy="4564987"/>
          </a:xfrm>
          <a:prstGeom prst="rect">
            <a:avLst/>
          </a:prstGeom>
        </p:spPr>
      </p:pic>
    </p:spTree>
    <p:extLst>
      <p:ext uri="{BB962C8B-B14F-4D97-AF65-F5344CB8AC3E}">
        <p14:creationId xmlns:p14="http://schemas.microsoft.com/office/powerpoint/2010/main" val="26939313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A0EB5-34FD-DBD7-203D-0CA92BDBB92F}"/>
              </a:ext>
            </a:extLst>
          </p:cNvPr>
          <p:cNvSpPr>
            <a:spLocks noGrp="1"/>
          </p:cNvSpPr>
          <p:nvPr>
            <p:ph type="title"/>
          </p:nvPr>
        </p:nvSpPr>
        <p:spPr>
          <a:xfrm>
            <a:off x="677334" y="262360"/>
            <a:ext cx="8596668" cy="663615"/>
          </a:xfrm>
        </p:spPr>
        <p:txBody>
          <a:bodyPr>
            <a:normAutofit fontScale="90000"/>
          </a:bodyPr>
          <a:lstStyle/>
          <a:p>
            <a:pPr marL="0" marR="0" lvl="0" indent="0" defTabSz="914400" rtl="0" eaLnBrk="1" fontAlgn="auto" latinLnBrk="0" hangingPunct="1">
              <a:lnSpc>
                <a:spcPct val="100000"/>
              </a:lnSpc>
              <a:spcBef>
                <a:spcPts val="0"/>
              </a:spcBef>
              <a:spcAft>
                <a:spcPts val="0"/>
              </a:spcAft>
              <a:tabLst/>
              <a:defRPr/>
            </a:pPr>
            <a:r>
              <a:rPr kumimoji="0" lang="en-US" b="1" i="0" u="none" strike="noStrike" kern="1200" cap="none" spc="0" normalizeH="0" baseline="0" noProof="0" dirty="0">
                <a:ln>
                  <a:noFill/>
                </a:ln>
                <a:solidFill>
                  <a:schemeClr val="accent2"/>
                </a:solidFill>
                <a:effectLst/>
                <a:uLnTx/>
                <a:uFillTx/>
                <a:latin typeface="Franklin Gothic Book"/>
                <a:ea typeface="+mn-ea"/>
                <a:cs typeface="+mn-cs"/>
              </a:rPr>
              <a:t>Insights Obtained</a:t>
            </a:r>
            <a:br>
              <a:rPr kumimoji="0" lang="en-US" b="1" i="0" u="none" strike="noStrike" kern="1200" cap="none" spc="0" normalizeH="0" baseline="0" noProof="0" dirty="0">
                <a:ln>
                  <a:noFill/>
                </a:ln>
                <a:solidFill>
                  <a:schemeClr val="accent2"/>
                </a:solidFill>
                <a:effectLst/>
                <a:uLnTx/>
                <a:uFillTx/>
                <a:latin typeface="Franklin Gothic Book"/>
                <a:ea typeface="+mn-ea"/>
                <a:cs typeface="+mn-cs"/>
              </a:rPr>
            </a:br>
            <a:br>
              <a:rPr kumimoji="0" lang="en-US" sz="2500" b="1" i="0" u="none" strike="noStrike" kern="1200" cap="none" spc="0" normalizeH="0" baseline="0" noProof="0" dirty="0">
                <a:ln>
                  <a:noFill/>
                </a:ln>
                <a:solidFill>
                  <a:srgbClr val="000000"/>
                </a:solidFill>
                <a:effectLst/>
                <a:uLnTx/>
                <a:uFillTx/>
                <a:latin typeface="Franklin Gothic Book"/>
                <a:ea typeface="+mn-ea"/>
                <a:cs typeface="+mn-cs"/>
              </a:rPr>
            </a:br>
            <a:endParaRPr lang="en-IN" dirty="0"/>
          </a:p>
        </p:txBody>
      </p:sp>
      <p:sp>
        <p:nvSpPr>
          <p:cNvPr id="3" name="Content Placeholder 2">
            <a:extLst>
              <a:ext uri="{FF2B5EF4-FFF2-40B4-BE49-F238E27FC236}">
                <a16:creationId xmlns:a16="http://schemas.microsoft.com/office/drawing/2014/main" id="{6C0A8602-5971-6352-B5A6-1AF00D0A2C3D}"/>
              </a:ext>
            </a:extLst>
          </p:cNvPr>
          <p:cNvSpPr>
            <a:spLocks noGrp="1"/>
          </p:cNvSpPr>
          <p:nvPr>
            <p:ph idx="1"/>
          </p:nvPr>
        </p:nvSpPr>
        <p:spPr>
          <a:xfrm>
            <a:off x="677334" y="1030147"/>
            <a:ext cx="8596668" cy="5011215"/>
          </a:xfrm>
        </p:spPr>
        <p:txBody>
          <a:bodyP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rgbClr val="000000"/>
                </a:solidFill>
                <a:effectLst/>
                <a:uLnTx/>
                <a:uFillTx/>
                <a:latin typeface="system-ui"/>
                <a:ea typeface="+mn-ea"/>
                <a:cs typeface="+mn-cs"/>
              </a:rPr>
              <a:t>Laptop prices range from Rs.9k to Rs.3.2 lakh.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rgbClr val="000000"/>
                </a:solidFill>
                <a:effectLst/>
                <a:uLnTx/>
                <a:uFillTx/>
                <a:latin typeface="system-ui"/>
                <a:ea typeface="+mn-ea"/>
                <a:cs typeface="+mn-cs"/>
              </a:rPr>
              <a:t>laptops are highly sold between 0 to 1 lakh and very low sold laptops are between 2 lakhs to 3 lakhs.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rgbClr val="000000"/>
                </a:solidFill>
                <a:effectLst/>
                <a:uLnTx/>
                <a:uFillTx/>
                <a:latin typeface="system-ui"/>
                <a:ea typeface="+mn-ea"/>
                <a:cs typeface="+mn-cs"/>
              </a:rPr>
              <a:t>Lenovo, Dell and HP is highly Saled and lowest is Apple.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rgbClr val="000000"/>
                </a:solidFill>
                <a:effectLst/>
                <a:uLnTx/>
                <a:uFillTx/>
                <a:latin typeface="system-ui"/>
                <a:ea typeface="+mn-ea"/>
                <a:cs typeface="+mn-cs"/>
              </a:rPr>
              <a:t>32GB RAM was mostly sold laptops and most lowest is 2GB RAM laptops.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rgbClr val="000000"/>
                </a:solidFill>
                <a:effectLst/>
                <a:uLnTx/>
                <a:uFillTx/>
                <a:latin typeface="system-ui"/>
                <a:ea typeface="+mn-ea"/>
                <a:cs typeface="+mn-cs"/>
              </a:rPr>
              <a:t>Windows 10 is the most high priced devices to </a:t>
            </a:r>
            <a:r>
              <a:rPr kumimoji="0" lang="en-US" sz="2400" i="0" u="none" strike="noStrike" kern="1200" cap="none" spc="0" normalizeH="0" baseline="0" noProof="0" dirty="0" err="1">
                <a:ln>
                  <a:noFill/>
                </a:ln>
                <a:solidFill>
                  <a:srgbClr val="000000"/>
                </a:solidFill>
                <a:effectLst/>
                <a:uLnTx/>
                <a:uFillTx/>
                <a:latin typeface="system-ui"/>
                <a:ea typeface="+mn-ea"/>
                <a:cs typeface="+mn-cs"/>
              </a:rPr>
              <a:t>campare</a:t>
            </a:r>
            <a:r>
              <a:rPr kumimoji="0" lang="en-US" sz="2400" i="0" u="none" strike="noStrike" kern="1200" cap="none" spc="0" normalizeH="0" baseline="0" noProof="0" dirty="0">
                <a:ln>
                  <a:noFill/>
                </a:ln>
                <a:solidFill>
                  <a:srgbClr val="000000"/>
                </a:solidFill>
                <a:effectLst/>
                <a:uLnTx/>
                <a:uFillTx/>
                <a:latin typeface="system-ui"/>
                <a:ea typeface="+mn-ea"/>
                <a:cs typeface="+mn-cs"/>
              </a:rPr>
              <a:t> then other operating systems and lowest is Linux, Chrome OS, No OS, Android.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rgbClr val="000000"/>
                </a:solidFill>
                <a:effectLst/>
                <a:uLnTx/>
                <a:uFillTx/>
                <a:latin typeface="system-ui"/>
                <a:ea typeface="+mn-ea"/>
                <a:cs typeface="+mn-cs"/>
              </a:rPr>
              <a:t>Operating systems: majority use Windows, followed by Mac OS (Apple). Linux/No OS laptops are cheaper.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i="0" u="none" strike="noStrike" kern="1200" cap="none" spc="0" normalizeH="0" baseline="0" noProof="0" dirty="0">
                <a:ln>
                  <a:noFill/>
                </a:ln>
                <a:solidFill>
                  <a:srgbClr val="000000"/>
                </a:solidFill>
                <a:effectLst/>
                <a:uLnTx/>
                <a:uFillTx/>
                <a:latin typeface="system-ui"/>
                <a:ea typeface="+mn-ea"/>
                <a:cs typeface="+mn-cs"/>
              </a:rPr>
              <a:t>Brand premium: even with similar specs, Apple and MSI laptops cost more compared to Acer, Dell, or HP.</a:t>
            </a:r>
          </a:p>
          <a:p>
            <a:endParaRPr lang="en-IN" dirty="0"/>
          </a:p>
        </p:txBody>
      </p:sp>
    </p:spTree>
    <p:extLst>
      <p:ext uri="{BB962C8B-B14F-4D97-AF65-F5344CB8AC3E}">
        <p14:creationId xmlns:p14="http://schemas.microsoft.com/office/powerpoint/2010/main" val="3097892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C1772-41D5-32BB-2D93-C7C9F9313DE1}"/>
              </a:ext>
            </a:extLst>
          </p:cNvPr>
          <p:cNvSpPr>
            <a:spLocks noGrp="1"/>
          </p:cNvSpPr>
          <p:nvPr>
            <p:ph type="title"/>
          </p:nvPr>
        </p:nvSpPr>
        <p:spPr>
          <a:xfrm>
            <a:off x="3410024" y="156238"/>
            <a:ext cx="4357121" cy="660400"/>
          </a:xfrm>
        </p:spPr>
        <p:txBody>
          <a:bodyPr>
            <a:noAutofit/>
          </a:bodyPr>
          <a:lstStyle/>
          <a:p>
            <a:pPr marL="0" marR="0" lvl="0" indent="0" defTabSz="914400" rtl="0" eaLnBrk="1" fontAlgn="auto" latinLnBrk="0" hangingPunct="1">
              <a:lnSpc>
                <a:spcPct val="100000"/>
              </a:lnSpc>
              <a:spcBef>
                <a:spcPts val="0"/>
              </a:spcBef>
              <a:spcAft>
                <a:spcPts val="0"/>
              </a:spcAft>
              <a:tabLst/>
              <a:defRPr/>
            </a:pPr>
            <a:r>
              <a:rPr kumimoji="0" lang="en-US" sz="4000" b="1" i="0" u="none" strike="noStrike" kern="1200" cap="none" spc="0" normalizeH="0" baseline="0" noProof="0" dirty="0">
                <a:ln>
                  <a:noFill/>
                </a:ln>
                <a:solidFill>
                  <a:schemeClr val="accent2"/>
                </a:solidFill>
                <a:effectLst/>
                <a:uLnTx/>
                <a:uFillTx/>
                <a:latin typeface="Franklin Gothic Book"/>
                <a:ea typeface="+mn-ea"/>
                <a:cs typeface="+mn-cs"/>
              </a:rPr>
              <a:t>Recommendations</a:t>
            </a:r>
            <a:br>
              <a:rPr kumimoji="0" lang="en-US" sz="4000" b="1" i="0" u="none" strike="noStrike" kern="1200" cap="none" spc="0" normalizeH="0" baseline="0" noProof="0" dirty="0">
                <a:ln>
                  <a:noFill/>
                </a:ln>
                <a:solidFill>
                  <a:srgbClr val="000000"/>
                </a:solidFill>
                <a:effectLst/>
                <a:uLnTx/>
                <a:uFillTx/>
                <a:latin typeface="Franklin Gothic Book"/>
                <a:ea typeface="+mn-ea"/>
                <a:cs typeface="+mn-cs"/>
              </a:rPr>
            </a:br>
            <a:endParaRPr lang="en-IN" sz="4400" dirty="0"/>
          </a:p>
        </p:txBody>
      </p:sp>
      <p:pic>
        <p:nvPicPr>
          <p:cNvPr id="8" name="Content Placeholder 7" descr="A graph of different colored columns&#10;&#10;AI-generated content may be incorrect.">
            <a:extLst>
              <a:ext uri="{FF2B5EF4-FFF2-40B4-BE49-F238E27FC236}">
                <a16:creationId xmlns:a16="http://schemas.microsoft.com/office/drawing/2014/main" id="{32D7E3DB-E895-32D8-2F20-6F552B181EB5}"/>
              </a:ext>
            </a:extLst>
          </p:cNvPr>
          <p:cNvPicPr>
            <a:picLocks noGrp="1" noChangeAspect="1"/>
          </p:cNvPicPr>
          <p:nvPr>
            <p:ph idx="1"/>
          </p:nvPr>
        </p:nvPicPr>
        <p:blipFill>
          <a:blip r:embed="rId2"/>
          <a:stretch>
            <a:fillRect/>
          </a:stretch>
        </p:blipFill>
        <p:spPr>
          <a:xfrm>
            <a:off x="336331" y="880953"/>
            <a:ext cx="9270124" cy="5096094"/>
          </a:xfrm>
          <a:prstGeom prst="rect">
            <a:avLst/>
          </a:prstGeom>
        </p:spPr>
      </p:pic>
    </p:spTree>
    <p:extLst>
      <p:ext uri="{BB962C8B-B14F-4D97-AF65-F5344CB8AC3E}">
        <p14:creationId xmlns:p14="http://schemas.microsoft.com/office/powerpoint/2010/main" val="472579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830E0-1179-C38D-DB4E-9D9B64D6085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861D23B-7784-E089-7E98-B733B1DFCFFE}"/>
              </a:ext>
            </a:extLst>
          </p:cNvPr>
          <p:cNvSpPr>
            <a:spLocks noGrp="1"/>
          </p:cNvSpPr>
          <p:nvPr>
            <p:ph idx="1"/>
          </p:nvPr>
        </p:nvSpPr>
        <p:spPr>
          <a:xfrm>
            <a:off x="1087238" y="2276203"/>
            <a:ext cx="8596668" cy="3880773"/>
          </a:xfrm>
        </p:spPr>
        <p:txBody>
          <a:bodyPr>
            <a:normAutofit/>
          </a:bodyPr>
          <a:lstStyle/>
          <a:p>
            <a:pPr marL="0" indent="0">
              <a:buNone/>
            </a:pPr>
            <a:r>
              <a:rPr lang="en-US" sz="11900" dirty="0">
                <a:solidFill>
                  <a:schemeClr val="accent2">
                    <a:lumMod val="60000"/>
                    <a:lumOff val="40000"/>
                  </a:schemeClr>
                </a:solidFill>
              </a:rPr>
              <a:t>Thank You</a:t>
            </a:r>
            <a:endParaRPr lang="en-IN" sz="11900" dirty="0">
              <a:solidFill>
                <a:schemeClr val="accent2">
                  <a:lumMod val="60000"/>
                  <a:lumOff val="40000"/>
                </a:schemeClr>
              </a:solidFill>
            </a:endParaRPr>
          </a:p>
        </p:txBody>
      </p:sp>
    </p:spTree>
    <p:extLst>
      <p:ext uri="{BB962C8B-B14F-4D97-AF65-F5344CB8AC3E}">
        <p14:creationId xmlns:p14="http://schemas.microsoft.com/office/powerpoint/2010/main" val="167062570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295</TotalTime>
  <Words>493</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Arial Unicode MS</vt:lpstr>
      <vt:lpstr>Franklin Gothic Book</vt:lpstr>
      <vt:lpstr>Franklin Gothic Demi</vt:lpstr>
      <vt:lpstr>system-ui</vt:lpstr>
      <vt:lpstr>Trebuchet MS</vt:lpstr>
      <vt:lpstr>Wingdings</vt:lpstr>
      <vt:lpstr>Wingdings 3</vt:lpstr>
      <vt:lpstr>Facet</vt:lpstr>
      <vt:lpstr>Python Reinforcement            Project</vt:lpstr>
      <vt:lpstr>Agenda</vt:lpstr>
      <vt:lpstr>Introduction</vt:lpstr>
      <vt:lpstr>Data Understanding</vt:lpstr>
      <vt:lpstr>Data Cleaning</vt:lpstr>
      <vt:lpstr>Fixing Rows &amp; Columns</vt:lpstr>
      <vt:lpstr>Handling Missing values</vt:lpstr>
      <vt:lpstr>Converting Datatype</vt:lpstr>
      <vt:lpstr>Checking Outliers</vt:lpstr>
      <vt:lpstr>Descriptive Analysis</vt:lpstr>
      <vt:lpstr>Data Visualization</vt:lpstr>
      <vt:lpstr>Univariate Visualization </vt:lpstr>
      <vt:lpstr>Bivariate Visualization </vt:lpstr>
      <vt:lpstr>Multivariate Visualization </vt:lpstr>
      <vt:lpstr>Insights Obtained  </vt:lpstr>
      <vt:lpstr>Recommendations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Dinesh N</dc:creator>
  <cp:lastModifiedBy>CHANDRU S</cp:lastModifiedBy>
  <cp:revision>4</cp:revision>
  <dcterms:created xsi:type="dcterms:W3CDTF">2025-12-07T11:09:02Z</dcterms:created>
  <dcterms:modified xsi:type="dcterms:W3CDTF">2026-04-15T06:44:10Z</dcterms:modified>
</cp:coreProperties>
</file>